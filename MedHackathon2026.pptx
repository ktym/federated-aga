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 = Asian Genome Archive. Two families of resources: the INSDC archives (open: SRA/ENA/DRA; controlled: dbGaP/EGA/JGA, with CNCB and IBDC joining) and the national genome projects and biobanks that sit outside INSDC. AGA's job is to make both visible in one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current researcher workflow using Federated EGA as the reference implementation, then the two structural problems: catalogs that are not designed for human or AI discovery, and DAC fragmentation. Close on the four functions AGA must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deliberately narrow: survey which Asian institutions accept controlled-access deposits, agree an index API plus JSON metadata profile, and prototype the portal. Step 2 opens the harder question of biobank and national cohort indexing. Concrete venues: BioHackathon in September, Zoom in between, MedHackathon Asia 2027. Working notes and code: github.com/ktym/federated-aga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oi.org/10.1093/gigascience/giag052" TargetMode="External"/><Relationship Id="rId2" Type="http://schemas.openxmlformats.org/officeDocument/2006/relationships/hyperlink" Target="https://github.com/ktym/federated-aga/tree/main"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ega-archive.org/datasets/" TargetMode="External"/><Relationship Id="rId2" Type="http://schemas.openxmlformats.org/officeDocument/2006/relationships/hyperlink" Target="https://github.com/ktym/federated-aga/tree/main"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2026.biohackathon.org/" TargetMode="External"/><Relationship Id="rId2" Type="http://schemas.openxmlformats.org/officeDocument/2006/relationships/hyperlink" Target="https://github.com/ktym/federated-aga/tree/main"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E"/>
        </a:solidFill>
      </p:bgPr>
    </p:bg>
    <p:spTree>
      <p:nvGrpSpPr>
        <p:cNvPr id="1" name=""/>
        <p:cNvGrpSpPr/>
        <p:nvPr/>
      </p:nvGrpSpPr>
      <p:grpSpPr>
        <a:xfrm>
          <a:off x="0" y="0"/>
          <a:ext cx="0" cy="0"/>
          <a:chOff x="0" y="0"/>
          <a:chExt cx="0" cy="0"/>
        </a:xfrm>
      </p:grpSpPr>
      <p:sp>
        <p:nvSpPr>
          <p:cNvPr id="2" name="Text 0"/>
          <p:cNvSpPr/>
          <p:nvPr/>
        </p:nvSpPr>
        <p:spPr>
          <a:xfrm>
            <a:off x="457200" y="310896"/>
            <a:ext cx="11274552" cy="56692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Vision for AGA</a:t>
            </a:r>
            <a:endParaRPr lang="en-US" sz="4000" dirty="0"/>
          </a:p>
        </p:txBody>
      </p:sp>
      <p:sp>
        <p:nvSpPr>
          <p:cNvPr id="3" name="Text 1"/>
          <p:cNvSpPr/>
          <p:nvPr/>
        </p:nvSpPr>
        <p:spPr>
          <a:xfrm>
            <a:off x="457200" y="914400"/>
            <a:ext cx="10607040" cy="310896"/>
          </a:xfrm>
          <a:prstGeom prst="rect">
            <a:avLst/>
          </a:prstGeom>
          <a:noFill/>
          <a:ln/>
        </p:spPr>
        <p:txBody>
          <a:bodyPr wrap="square" lIns="0" tIns="0" rIns="0" bIns="0" rtlCol="0" anchor="ctr"/>
          <a:lstStyle/>
          <a:p>
            <a:pPr indent="0" marL="0">
              <a:buNone/>
            </a:pPr>
            <a:r>
              <a:rPr lang="en-US" sz="1500" i="1" dirty="0">
                <a:solidFill>
                  <a:srgbClr val="CFE3F0"/>
                </a:solidFill>
                <a:latin typeface="Calibri" pitchFamily="34" charset="0"/>
                <a:ea typeface="Calibri" pitchFamily="34" charset="-122"/>
                <a:cs typeface="Calibri" pitchFamily="34" charset="-120"/>
              </a:rPr>
              <a:t>An Asian Genome Archive: a federated catalog that lets human research data be discovered, requested and reused across Asia</a:t>
            </a:r>
            <a:endParaRPr lang="en-US" sz="1500" dirty="0"/>
          </a:p>
        </p:txBody>
      </p:sp>
      <p:sp>
        <p:nvSpPr>
          <p:cNvPr id="4" name="Text 2"/>
          <p:cNvSpPr/>
          <p:nvPr/>
        </p:nvSpPr>
        <p:spPr>
          <a:xfrm>
            <a:off x="457200" y="1243584"/>
            <a:ext cx="1060704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Two families of resources have to be brought into one view</a:t>
            </a:r>
            <a:endParaRPr lang="en-US" sz="1300" dirty="0"/>
          </a:p>
        </p:txBody>
      </p:sp>
      <p:sp>
        <p:nvSpPr>
          <p:cNvPr id="5" name="Shape 3"/>
          <p:cNvSpPr/>
          <p:nvPr/>
        </p:nvSpPr>
        <p:spPr>
          <a:xfrm>
            <a:off x="457200" y="1627632"/>
            <a:ext cx="5486400" cy="4315968"/>
          </a:xfrm>
          <a:prstGeom prst="roundRect">
            <a:avLst>
              <a:gd name="adj" fmla="val 1695"/>
            </a:avLst>
          </a:prstGeom>
          <a:solidFill>
            <a:srgbClr val="2A3A78"/>
          </a:solidFill>
          <a:ln w="12700">
            <a:solidFill>
              <a:srgbClr val="2A3A78"/>
            </a:solidFill>
            <a:prstDash val="solid"/>
          </a:ln>
        </p:spPr>
      </p:sp>
      <p:sp>
        <p:nvSpPr>
          <p:cNvPr id="6" name="Shape 4"/>
          <p:cNvSpPr/>
          <p:nvPr/>
        </p:nvSpPr>
        <p:spPr>
          <a:xfrm>
            <a:off x="713232" y="1847088"/>
            <a:ext cx="384048" cy="384048"/>
          </a:xfrm>
          <a:prstGeom prst="ellipse">
            <a:avLst/>
          </a:prstGeom>
          <a:solidFill>
            <a:srgbClr val="E8A33D"/>
          </a:solidFill>
          <a:ln/>
        </p:spPr>
      </p:sp>
      <p:sp>
        <p:nvSpPr>
          <p:cNvPr id="7" name="Text 5"/>
          <p:cNvSpPr/>
          <p:nvPr/>
        </p:nvSpPr>
        <p:spPr>
          <a:xfrm>
            <a:off x="713232" y="1847088"/>
            <a:ext cx="384048" cy="384048"/>
          </a:xfrm>
          <a:prstGeom prst="rect">
            <a:avLst/>
          </a:prstGeom>
          <a:noFill/>
          <a:ln/>
        </p:spPr>
        <p:txBody>
          <a:bodyPr wrap="square" lIns="0" tIns="0" rIns="0" bIns="0" rtlCol="0" anchor="ctr"/>
          <a:lstStyle/>
          <a:p>
            <a:pPr algn="ctr" indent="0" marL="0">
              <a:buNone/>
            </a:pPr>
            <a:r>
              <a:rPr lang="en-US" sz="1500" b="1" dirty="0">
                <a:solidFill>
                  <a:srgbClr val="1B2A5E"/>
                </a:solidFill>
                <a:latin typeface="Calibri" pitchFamily="34" charset="0"/>
                <a:ea typeface="Calibri" pitchFamily="34" charset="-122"/>
                <a:cs typeface="Calibri" pitchFamily="34" charset="-120"/>
              </a:rPr>
              <a:t>A</a:t>
            </a:r>
            <a:endParaRPr lang="en-US" sz="1500" dirty="0"/>
          </a:p>
        </p:txBody>
      </p:sp>
      <p:sp>
        <p:nvSpPr>
          <p:cNvPr id="8" name="Text 6"/>
          <p:cNvSpPr/>
          <p:nvPr/>
        </p:nvSpPr>
        <p:spPr>
          <a:xfrm>
            <a:off x="1207008" y="1847088"/>
            <a:ext cx="448056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INSDC human research data</a:t>
            </a:r>
            <a:endParaRPr lang="en-US" sz="1900" dirty="0"/>
          </a:p>
        </p:txBody>
      </p:sp>
      <p:sp>
        <p:nvSpPr>
          <p:cNvPr id="9" name="Text 7"/>
          <p:cNvSpPr/>
          <p:nvPr/>
        </p:nvSpPr>
        <p:spPr>
          <a:xfrm>
            <a:off x="822960" y="2395728"/>
            <a:ext cx="4846320" cy="3108960"/>
          </a:xfrm>
          <a:prstGeom prst="rect">
            <a:avLst/>
          </a:prstGeom>
          <a:noFill/>
          <a:ln/>
        </p:spPr>
        <p:txBody>
          <a:bodyPr wrap="square" lIns="0" tIns="0" rIns="0" bIns="0" rtlCol="0" anchor="ctr"/>
          <a:lstStyle/>
          <a:p>
            <a:pPr indent="0" marL="0">
              <a:spcAft>
                <a:spcPts val="300"/>
              </a:spcAft>
              <a:buNone/>
            </a:pPr>
            <a:r>
              <a:rPr lang="en-US" sz="1350" b="1" dirty="0">
                <a:solidFill>
                  <a:srgbClr val="E8A33D"/>
                </a:solidFill>
                <a:latin typeface="Calibri" pitchFamily="34" charset="0"/>
                <a:ea typeface="Calibri" pitchFamily="34" charset="-122"/>
                <a:cs typeface="Calibri" pitchFamily="34" charset="-120"/>
              </a:rPr>
              <a:t>Open access data</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SRA — United States / NCBI</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ENA — Europe / EMBL-EBI</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DRA — Japan / NIG-DDBJ</a:t>
            </a:r>
            <a:endParaRPr lang="en-US" sz="1300" dirty="0"/>
          </a:p>
          <a:p>
            <a:pPr indent="0" marL="0">
              <a:spcBef>
                <a:spcPts val="800"/>
              </a:spcBef>
              <a:spcAft>
                <a:spcPts val="300"/>
              </a:spcAft>
              <a:buNone/>
            </a:pPr>
            <a:r>
              <a:rPr lang="en-US" sz="1350" b="1" dirty="0">
                <a:solidFill>
                  <a:srgbClr val="E8A33D"/>
                </a:solidFill>
                <a:latin typeface="Calibri" pitchFamily="34" charset="0"/>
                <a:ea typeface="Calibri" pitchFamily="34" charset="-122"/>
                <a:cs typeface="Calibri" pitchFamily="34" charset="-120"/>
              </a:rPr>
              <a:t>Controlled access data</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dbGaP — United States / NCBI</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EGA — Europe / EMBL-EBI</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JGA — Japan / NIG-DDBJ</a:t>
            </a:r>
            <a:endParaRPr lang="en-US" sz="1300" dirty="0"/>
          </a:p>
          <a:p>
            <a:pPr indent="0" marL="0">
              <a:spcBef>
                <a:spcPts val="800"/>
              </a:spcBef>
              <a:spcAft>
                <a:spcPts val="300"/>
              </a:spcAft>
              <a:buNone/>
            </a:pPr>
            <a:r>
              <a:rPr lang="en-US" sz="1350" b="1" dirty="0">
                <a:solidFill>
                  <a:srgbClr val="E8A33D"/>
                </a:solidFill>
                <a:latin typeface="Calibri" pitchFamily="34" charset="0"/>
                <a:ea typeface="Calibri" pitchFamily="34" charset="-122"/>
                <a:cs typeface="Calibri" pitchFamily="34" charset="-120"/>
              </a:rPr>
              <a:t>Upcoming members</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CNCB — China</a:t>
            </a:r>
            <a:endParaRPr lang="en-US" sz="1300" dirty="0"/>
          </a:p>
          <a:p>
            <a:pPr lvl="1" marL="6858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IBDC — India, incl. INDA-CA for controlled access</a:t>
            </a:r>
            <a:endParaRPr lang="en-US" sz="1300" dirty="0"/>
          </a:p>
        </p:txBody>
      </p:sp>
      <p:sp>
        <p:nvSpPr>
          <p:cNvPr id="10" name="Text 8"/>
          <p:cNvSpPr/>
          <p:nvPr/>
        </p:nvSpPr>
        <p:spPr>
          <a:xfrm>
            <a:off x="822960" y="5358384"/>
            <a:ext cx="4846320" cy="457200"/>
          </a:xfrm>
          <a:prstGeom prst="rect">
            <a:avLst/>
          </a:prstGeom>
          <a:noFill/>
          <a:ln/>
        </p:spPr>
        <p:txBody>
          <a:bodyPr wrap="square" lIns="0" tIns="0" rIns="0" bIns="0" rtlCol="0" anchor="ctr"/>
          <a:lstStyle/>
          <a:p>
            <a:pPr indent="0" marL="0">
              <a:buNone/>
            </a:pPr>
            <a:r>
              <a:rPr lang="en-US" sz="1100" i="1" dirty="0">
                <a:solidFill>
                  <a:srgbClr val="CFE3F0"/>
                </a:solidFill>
                <a:latin typeface="Calibri" pitchFamily="34" charset="0"/>
                <a:ea typeface="Calibri" pitchFamily="34" charset="-122"/>
                <a:cs typeface="Calibri" pitchFamily="34" charset="-120"/>
              </a:rPr>
              <a:t>Shared submission and accession conventions already exist here — this is the backbone AGA can federate first.</a:t>
            </a:r>
            <a:endParaRPr lang="en-US" sz="1100" dirty="0"/>
          </a:p>
        </p:txBody>
      </p:sp>
      <p:sp>
        <p:nvSpPr>
          <p:cNvPr id="11" name="Shape 9"/>
          <p:cNvSpPr/>
          <p:nvPr/>
        </p:nvSpPr>
        <p:spPr>
          <a:xfrm>
            <a:off x="6245352" y="1627632"/>
            <a:ext cx="5486400" cy="4315968"/>
          </a:xfrm>
          <a:prstGeom prst="roundRect">
            <a:avLst>
              <a:gd name="adj" fmla="val 1695"/>
            </a:avLst>
          </a:prstGeom>
          <a:solidFill>
            <a:srgbClr val="1C7293"/>
          </a:solidFill>
          <a:ln w="12700">
            <a:solidFill>
              <a:srgbClr val="1C7293"/>
            </a:solidFill>
            <a:prstDash val="solid"/>
          </a:ln>
        </p:spPr>
      </p:sp>
      <p:sp>
        <p:nvSpPr>
          <p:cNvPr id="12" name="Shape 10"/>
          <p:cNvSpPr/>
          <p:nvPr/>
        </p:nvSpPr>
        <p:spPr>
          <a:xfrm>
            <a:off x="6501384" y="1847088"/>
            <a:ext cx="384048" cy="384048"/>
          </a:xfrm>
          <a:prstGeom prst="ellipse">
            <a:avLst/>
          </a:prstGeom>
          <a:solidFill>
            <a:srgbClr val="E8A33D"/>
          </a:solidFill>
          <a:ln/>
        </p:spPr>
      </p:sp>
      <p:sp>
        <p:nvSpPr>
          <p:cNvPr id="13" name="Text 11"/>
          <p:cNvSpPr/>
          <p:nvPr/>
        </p:nvSpPr>
        <p:spPr>
          <a:xfrm>
            <a:off x="6501384" y="1847088"/>
            <a:ext cx="384048" cy="384048"/>
          </a:xfrm>
          <a:prstGeom prst="rect">
            <a:avLst/>
          </a:prstGeom>
          <a:noFill/>
          <a:ln/>
        </p:spPr>
        <p:txBody>
          <a:bodyPr wrap="square" lIns="0" tIns="0" rIns="0" bIns="0" rtlCol="0" anchor="ctr"/>
          <a:lstStyle/>
          <a:p>
            <a:pPr algn="ctr" indent="0" marL="0">
              <a:buNone/>
            </a:pPr>
            <a:r>
              <a:rPr lang="en-US" sz="1500" b="1" dirty="0">
                <a:solidFill>
                  <a:srgbClr val="1B2A5E"/>
                </a:solidFill>
                <a:latin typeface="Calibri" pitchFamily="34" charset="0"/>
                <a:ea typeface="Calibri" pitchFamily="34" charset="-122"/>
                <a:cs typeface="Calibri" pitchFamily="34" charset="-120"/>
              </a:rPr>
              <a:t>B</a:t>
            </a:r>
            <a:endParaRPr lang="en-US" sz="1500" dirty="0"/>
          </a:p>
        </p:txBody>
      </p:sp>
      <p:sp>
        <p:nvSpPr>
          <p:cNvPr id="14" name="Text 12"/>
          <p:cNvSpPr/>
          <p:nvPr/>
        </p:nvSpPr>
        <p:spPr>
          <a:xfrm>
            <a:off x="6995160" y="1847088"/>
            <a:ext cx="448056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Biobank &amp; national genome data</a:t>
            </a:r>
            <a:endParaRPr lang="en-US" sz="1900" dirty="0"/>
          </a:p>
        </p:txBody>
      </p:sp>
      <p:sp>
        <p:nvSpPr>
          <p:cNvPr id="15" name="Text 13"/>
          <p:cNvSpPr/>
          <p:nvPr/>
        </p:nvSpPr>
        <p:spPr>
          <a:xfrm>
            <a:off x="6611112" y="2395728"/>
            <a:ext cx="4846320" cy="228600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Japan — ToMMo, GEM Japan, AMED-funded cohorts, …</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India — GenomeIndia</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Singapore — PRECISE</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Thailand — Genomics Thailand</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Philippines — Filipinome</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Others — see Table 1 of the MedHackathon 2025 paper</a:t>
            </a:r>
            <a:endParaRPr lang="en-US" sz="1350" dirty="0"/>
          </a:p>
          <a:p>
            <a:pPr lvl="2" indent="0" marL="0">
              <a:spcAft>
                <a:spcPts val="600"/>
              </a:spcAft>
              <a:buNone/>
            </a:pPr>
            <a:r>
              <a:rPr lang="en-US" sz="1350" u="sng" dirty="0">
                <a:solidFill>
                  <a:srgbClr val="FFF0D6"/>
                </a:solidFill>
                <a:latin typeface="Calibri" pitchFamily="34" charset="0"/>
                <a:ea typeface="Calibri" pitchFamily="34" charset="-122"/>
                <a:cs typeface="Calibri" pitchFamily="34" charset="-120"/>
                <a:hlinkClick r:id="rId1" invalidUrl="" action="" tgtFrame="" tooltip="MedHackathon 2025 paper" history="1" highlightClick="0" endSnd="0">
                  <a:extLst>
                    <a:ext uri="{A12FA001-AC4F-418D-AE19-62706E023703}">
                      <ahyp:hlinkClr xmlns:ahyp="http://schemas.microsoft.com/office/drawing/2018/hyperlinkcolor" val="tx"/>
                    </a:ext>
                  </a:extLst>
                </a:hlinkClick>
              </a:rPr>
              <a:t>doi.org/10.1093/gigascience/giag052</a:t>
            </a:r>
            <a:endParaRPr lang="en-US" sz="1350" dirty="0"/>
          </a:p>
        </p:txBody>
      </p:sp>
      <p:sp>
        <p:nvSpPr>
          <p:cNvPr id="16" name="Text 14"/>
          <p:cNvSpPr/>
          <p:nvPr/>
        </p:nvSpPr>
        <p:spPr>
          <a:xfrm>
            <a:off x="6611112" y="4700016"/>
            <a:ext cx="4754880" cy="1060704"/>
          </a:xfrm>
          <a:prstGeom prst="rect">
            <a:avLst/>
          </a:prstGeom>
          <a:noFill/>
          <a:ln/>
        </p:spPr>
        <p:txBody>
          <a:bodyPr wrap="square" lIns="0" tIns="0" rIns="0" bIns="0" rtlCol="0" anchor="ctr"/>
          <a:lstStyle/>
          <a:p>
            <a:pPr indent="0" marL="0">
              <a:buNone/>
            </a:pPr>
            <a:r>
              <a:rPr lang="en-US" sz="1350" b="1" dirty="0">
                <a:solidFill>
                  <a:srgbClr val="1B2A5E"/>
                </a:solidFill>
                <a:latin typeface="Calibri" pitchFamily="34" charset="0"/>
                <a:ea typeface="Calibri" pitchFamily="34" charset="-122"/>
                <a:cs typeface="Calibri" pitchFamily="34" charset="-120"/>
              </a:rPr>
              <a:t>The gap</a:t>
            </a:r>
            <a:endParaRPr lang="en-US" sz="1200" dirty="0"/>
          </a:p>
          <a:p>
            <a:pPr indent="0" marL="0">
              <a:buNone/>
            </a:pPr>
            <a:r>
              <a:rPr lang="en-US" sz="1200" dirty="0">
                <a:solidFill>
                  <a:srgbClr val="1B2A5E"/>
                </a:solidFill>
                <a:latin typeface="Calibri" pitchFamily="34" charset="0"/>
                <a:ea typeface="Calibri" pitchFamily="34" charset="-122"/>
                <a:cs typeface="Calibri" pitchFamily="34" charset="-120"/>
              </a:rPr>
              <a:t>These national resources sit outside INSDC, each with its own portal, metadata model and access rules. Nobody can currently answer “what human genome data exists in Asia, and how much?” in one place.</a:t>
            </a:r>
            <a:endParaRPr lang="en-US" sz="1200" dirty="0"/>
          </a:p>
        </p:txBody>
      </p:sp>
      <p:sp>
        <p:nvSpPr>
          <p:cNvPr id="17" name="Text 15"/>
          <p:cNvSpPr/>
          <p:nvPr/>
        </p:nvSpPr>
        <p:spPr>
          <a:xfrm>
            <a:off x="457200" y="6144768"/>
            <a:ext cx="11274552" cy="237744"/>
          </a:xfrm>
          <a:prstGeom prst="rect">
            <a:avLst/>
          </a:prstGeom>
          <a:noFill/>
          <a:ln/>
        </p:spPr>
        <p:txBody>
          <a:bodyPr wrap="square" lIns="0" tIns="0" rIns="0" bIns="0" rtlCol="0" anchor="ctr"/>
          <a:lstStyle/>
          <a:p>
            <a:pPr indent="0" marL="0">
              <a:buNone/>
            </a:pPr>
            <a:r>
              <a:rPr lang="en-US" sz="1000" dirty="0">
                <a:solidFill>
                  <a:srgbClr val="CFE3F0"/>
                </a:solidFill>
                <a:latin typeface="Calibri" pitchFamily="34" charset="0"/>
                <a:ea typeface="Calibri" pitchFamily="34" charset="-122"/>
                <a:cs typeface="Calibri" pitchFamily="34" charset="-120"/>
              </a:rPr>
              <a:t>Source &amp; working notes: </a:t>
            </a:r>
            <a:pPr indent="0" marL="0">
              <a:buNone/>
            </a:pPr>
            <a:r>
              <a:rPr lang="en-US" sz="1000" b="1" u="sng" dirty="0">
                <a:solidFill>
                  <a:srgbClr val="E8A33D"/>
                </a:solidFill>
                <a:latin typeface="Calibri" pitchFamily="34" charset="0"/>
                <a:ea typeface="Calibri" pitchFamily="34" charset="-122"/>
                <a:cs typeface="Calibri" pitchFamily="34" charset="-120"/>
                <a:hlinkClick r:id="rId2" invalidUrl="" action="" tgtFrame="" tooltip="Federated AGA repository" history="1" highlightClick="0" endSnd="0">
                  <a:extLst>
                    <a:ext uri="{A12FA001-AC4F-418D-AE19-62706E023703}">
                      <ahyp:hlinkClr xmlns:ahyp="http://schemas.microsoft.com/office/drawing/2018/hyperlinkcolor" val="tx"/>
                    </a:ext>
                  </a:extLst>
                </a:hlinkClick>
              </a:rPr>
              <a:t>github.com/ktym/federated-aga</a:t>
            </a:r>
            <a:pPr indent="0" marL="0">
              <a:buNone/>
            </a:pPr>
            <a:r>
              <a:rPr lang="en-US" sz="1000" dirty="0">
                <a:solidFill>
                  <a:srgbClr val="CFE3F0"/>
                </a:solidFill>
                <a:latin typeface="Calibri" pitchFamily="34" charset="0"/>
                <a:ea typeface="Calibri" pitchFamily="34" charset="-122"/>
                <a:cs typeface="Calibri" pitchFamily="34" charset="-120"/>
              </a:rPr>
              <a:t>   |   Federated AGA — MedHackathon Asia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457200" y="292608"/>
            <a:ext cx="7863840" cy="530352"/>
          </a:xfrm>
          <a:prstGeom prst="rect">
            <a:avLst/>
          </a:prstGeom>
          <a:noFill/>
          <a:ln/>
        </p:spPr>
        <p:txBody>
          <a:bodyPr wrap="square" lIns="0" tIns="0" rIns="0" bIns="0" rtlCol="0" anchor="ctr"/>
          <a:lstStyle/>
          <a:p>
            <a:pPr indent="0" marL="0">
              <a:buNone/>
            </a:pPr>
            <a:r>
              <a:rPr lang="en-US" sz="3600" b="1" dirty="0">
                <a:solidFill>
                  <a:srgbClr val="1B2A5E"/>
                </a:solidFill>
                <a:latin typeface="Cambria" pitchFamily="34" charset="0"/>
                <a:ea typeface="Cambria" pitchFamily="34" charset="-122"/>
                <a:cs typeface="Cambria" pitchFamily="34" charset="-120"/>
              </a:rPr>
              <a:t>Designing the AGA portal</a:t>
            </a:r>
            <a:endParaRPr lang="en-US" sz="3600" dirty="0"/>
          </a:p>
        </p:txBody>
      </p:sp>
      <p:sp>
        <p:nvSpPr>
          <p:cNvPr id="3" name="Text 1"/>
          <p:cNvSpPr/>
          <p:nvPr/>
        </p:nvSpPr>
        <p:spPr>
          <a:xfrm>
            <a:off x="457200" y="859536"/>
            <a:ext cx="10972800" cy="274320"/>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Start from real use cases: what a researcher does today with Federated EGA and its peers, and where that breaks down</a:t>
            </a:r>
            <a:endParaRPr lang="en-US" sz="1400" dirty="0"/>
          </a:p>
        </p:txBody>
      </p:sp>
      <p:sp>
        <p:nvSpPr>
          <p:cNvPr id="4" name="Text 2"/>
          <p:cNvSpPr/>
          <p:nvPr/>
        </p:nvSpPr>
        <p:spPr>
          <a:xfrm>
            <a:off x="457200" y="1298448"/>
            <a:ext cx="5394960" cy="274320"/>
          </a:xfrm>
          <a:prstGeom prst="rect">
            <a:avLst/>
          </a:prstGeom>
          <a:noFill/>
          <a:ln/>
        </p:spPr>
        <p:txBody>
          <a:bodyPr wrap="square" lIns="0" tIns="0" rIns="0" bIns="0" rtlCol="0" anchor="ctr"/>
          <a:lstStyle/>
          <a:p>
            <a:pPr indent="0" marL="0">
              <a:buNone/>
            </a:pPr>
            <a:r>
              <a:rPr lang="en-US" sz="1400" b="1" dirty="0">
                <a:solidFill>
                  <a:srgbClr val="0A5A82"/>
                </a:solidFill>
                <a:latin typeface="Calibri" pitchFamily="34" charset="0"/>
                <a:ea typeface="Calibri" pitchFamily="34" charset="-122"/>
                <a:cs typeface="Calibri" pitchFamily="34" charset="-120"/>
              </a:rPr>
              <a:t>How researchers apply for data today</a:t>
            </a:r>
            <a:endParaRPr lang="en-US" sz="1400" dirty="0"/>
          </a:p>
        </p:txBody>
      </p:sp>
      <p:sp>
        <p:nvSpPr>
          <p:cNvPr id="5" name="Shape 3"/>
          <p:cNvSpPr/>
          <p:nvPr/>
        </p:nvSpPr>
        <p:spPr>
          <a:xfrm>
            <a:off x="457200" y="1645920"/>
            <a:ext cx="5394960" cy="969264"/>
          </a:xfrm>
          <a:prstGeom prst="roundRect">
            <a:avLst>
              <a:gd name="adj" fmla="val 5660"/>
            </a:avLst>
          </a:prstGeom>
          <a:solidFill>
            <a:srgbClr val="FFFFFF"/>
          </a:solidFill>
          <a:ln w="12700">
            <a:solidFill>
              <a:srgbClr val="DCE5EE"/>
            </a:solidFill>
            <a:prstDash val="solid"/>
          </a:ln>
          <a:effectLst>
            <a:outerShdw sx="100000" sy="100000" kx="0" ky="0" algn="bl" rotWithShape="0" blurRad="76200" dist="12700" dir="5400000">
              <a:srgbClr val="9FB3C8">
                <a:alpha val="25000"/>
              </a:srgbClr>
            </a:outerShdw>
          </a:effectLst>
        </p:spPr>
      </p:sp>
      <p:sp>
        <p:nvSpPr>
          <p:cNvPr id="6" name="Shape 4"/>
          <p:cNvSpPr/>
          <p:nvPr/>
        </p:nvSpPr>
        <p:spPr>
          <a:xfrm>
            <a:off x="676656" y="1828800"/>
            <a:ext cx="384048" cy="384048"/>
          </a:xfrm>
          <a:prstGeom prst="ellipse">
            <a:avLst/>
          </a:prstGeom>
          <a:solidFill>
            <a:srgbClr val="0A5A82"/>
          </a:solidFill>
          <a:ln/>
        </p:spPr>
      </p:sp>
      <p:sp>
        <p:nvSpPr>
          <p:cNvPr id="7" name="Text 5"/>
          <p:cNvSpPr/>
          <p:nvPr/>
        </p:nvSpPr>
        <p:spPr>
          <a:xfrm>
            <a:off x="676656"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70432" y="1810512"/>
            <a:ext cx="4480560" cy="274320"/>
          </a:xfrm>
          <a:prstGeom prst="rect">
            <a:avLst/>
          </a:prstGeom>
          <a:noFill/>
          <a:ln/>
        </p:spPr>
        <p:txBody>
          <a:bodyPr wrap="square" lIns="0" tIns="0" rIns="0" bIns="0" rtlCol="0" anchor="ctr"/>
          <a:lstStyle/>
          <a:p>
            <a:pPr indent="0" marL="0">
              <a:buNone/>
            </a:pPr>
            <a:r>
              <a:rPr lang="en-US" sz="1400" b="1" dirty="0">
                <a:solidFill>
                  <a:srgbClr val="18243D"/>
                </a:solidFill>
                <a:latin typeface="Calibri" pitchFamily="34" charset="0"/>
                <a:ea typeface="Calibri" pitchFamily="34" charset="-122"/>
                <a:cs typeface="Calibri" pitchFamily="34" charset="-120"/>
              </a:rPr>
              <a:t>Discover</a:t>
            </a:r>
            <a:endParaRPr lang="en-US" sz="1400" dirty="0"/>
          </a:p>
        </p:txBody>
      </p:sp>
      <p:sp>
        <p:nvSpPr>
          <p:cNvPr id="9" name="Text 7"/>
          <p:cNvSpPr/>
          <p:nvPr/>
        </p:nvSpPr>
        <p:spPr>
          <a:xfrm>
            <a:off x="1170432" y="2084832"/>
            <a:ext cx="4480560" cy="512064"/>
          </a:xfrm>
          <a:prstGeom prst="rect">
            <a:avLst/>
          </a:prstGeom>
          <a:noFill/>
          <a:ln/>
        </p:spPr>
        <p:txBody>
          <a:bodyPr wrap="square" lIns="0" tIns="0" rIns="0" bIns="0" rtlCol="0" anchor="ctr"/>
          <a:lstStyle/>
          <a:p>
            <a:pPr indent="0" marL="0">
              <a:buNone/>
            </a:pPr>
            <a:r>
              <a:rPr lang="en-US" sz="1200" dirty="0">
                <a:solidFill>
                  <a:srgbClr val="5A6B80"/>
                </a:solidFill>
                <a:latin typeface="Calibri" pitchFamily="34" charset="0"/>
                <a:ea typeface="Calibri" pitchFamily="34" charset="-122"/>
                <a:cs typeface="Calibri" pitchFamily="34" charset="-120"/>
              </a:rPr>
              <a:t>Search a catalog such as </a:t>
            </a:r>
            <a:pPr indent="0" marL="0">
              <a:buNone/>
            </a:pPr>
            <a:r>
              <a:rPr lang="en-US" sz="1200" b="1" u="sng" dirty="0">
                <a:solidFill>
                  <a:srgbClr val="0A5A82"/>
                </a:solidFill>
                <a:latin typeface="Calibri" pitchFamily="34" charset="0"/>
                <a:ea typeface="Calibri" pitchFamily="34" charset="-122"/>
                <a:cs typeface="Calibri" pitchFamily="34" charset="-120"/>
                <a:hlinkClick r:id="rId1" invalidUrl="" action="" tgtFrame="" tooltip="Federated EGA datasets" history="1" highlightClick="0" endSnd="0">
                  <a:extLst>
                    <a:ext uri="{A12FA001-AC4F-418D-AE19-62706E023703}">
                      <ahyp:hlinkClr xmlns:ahyp="http://schemas.microsoft.com/office/drawing/2018/hyperlinkcolor" val="tx"/>
                    </a:ext>
                  </a:extLst>
                </a:hlinkClick>
              </a:rPr>
              <a:t>Federated EGA</a:t>
            </a:r>
            <a:pPr indent="0" marL="0">
              <a:buNone/>
            </a:pPr>
            <a:r>
              <a:rPr lang="en-US" sz="1200" dirty="0">
                <a:solidFill>
                  <a:srgbClr val="5A6B80"/>
                </a:solidFill>
                <a:latin typeface="Calibri" pitchFamily="34" charset="0"/>
                <a:ea typeface="Calibri" pitchFamily="34" charset="-122"/>
                <a:cs typeface="Calibri" pitchFamily="34" charset="-120"/>
              </a:rPr>
              <a:t> for datasets relevant to the research question.</a:t>
            </a:r>
            <a:endParaRPr lang="en-US" sz="1200" dirty="0"/>
          </a:p>
        </p:txBody>
      </p:sp>
      <p:sp>
        <p:nvSpPr>
          <p:cNvPr id="10" name="Shape 8"/>
          <p:cNvSpPr/>
          <p:nvPr/>
        </p:nvSpPr>
        <p:spPr>
          <a:xfrm>
            <a:off x="457200" y="2724912"/>
            <a:ext cx="5394960" cy="969264"/>
          </a:xfrm>
          <a:prstGeom prst="roundRect">
            <a:avLst>
              <a:gd name="adj" fmla="val 5660"/>
            </a:avLst>
          </a:prstGeom>
          <a:solidFill>
            <a:srgbClr val="FFFFFF"/>
          </a:solidFill>
          <a:ln w="12700">
            <a:solidFill>
              <a:srgbClr val="DCE5EE"/>
            </a:solidFill>
            <a:prstDash val="solid"/>
          </a:ln>
          <a:effectLst>
            <a:outerShdw sx="100000" sy="100000" kx="0" ky="0" algn="bl" rotWithShape="0" blurRad="76200" dist="12700" dir="5400000">
              <a:srgbClr val="9FB3C8">
                <a:alpha val="25000"/>
              </a:srgbClr>
            </a:outerShdw>
          </a:effectLst>
        </p:spPr>
      </p:sp>
      <p:sp>
        <p:nvSpPr>
          <p:cNvPr id="11" name="Shape 9"/>
          <p:cNvSpPr/>
          <p:nvPr/>
        </p:nvSpPr>
        <p:spPr>
          <a:xfrm>
            <a:off x="676656" y="2907792"/>
            <a:ext cx="384048" cy="384048"/>
          </a:xfrm>
          <a:prstGeom prst="ellipse">
            <a:avLst/>
          </a:prstGeom>
          <a:solidFill>
            <a:srgbClr val="0A5A82"/>
          </a:solidFill>
          <a:ln/>
        </p:spPr>
      </p:sp>
      <p:sp>
        <p:nvSpPr>
          <p:cNvPr id="12" name="Text 10"/>
          <p:cNvSpPr/>
          <p:nvPr/>
        </p:nvSpPr>
        <p:spPr>
          <a:xfrm>
            <a:off x="676656" y="29077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170432" y="2889504"/>
            <a:ext cx="4480560" cy="274320"/>
          </a:xfrm>
          <a:prstGeom prst="rect">
            <a:avLst/>
          </a:prstGeom>
          <a:noFill/>
          <a:ln/>
        </p:spPr>
        <p:txBody>
          <a:bodyPr wrap="square" lIns="0" tIns="0" rIns="0" bIns="0" rtlCol="0" anchor="ctr"/>
          <a:lstStyle/>
          <a:p>
            <a:pPr indent="0" marL="0">
              <a:buNone/>
            </a:pPr>
            <a:r>
              <a:rPr lang="en-US" sz="1400" b="1" dirty="0">
                <a:solidFill>
                  <a:srgbClr val="18243D"/>
                </a:solidFill>
                <a:latin typeface="Calibri" pitchFamily="34" charset="0"/>
                <a:ea typeface="Calibri" pitchFamily="34" charset="-122"/>
                <a:cs typeface="Calibri" pitchFamily="34" charset="-120"/>
              </a:rPr>
              <a:t>Apply</a:t>
            </a:r>
            <a:endParaRPr lang="en-US" sz="1400" dirty="0"/>
          </a:p>
        </p:txBody>
      </p:sp>
      <p:sp>
        <p:nvSpPr>
          <p:cNvPr id="14" name="Text 12"/>
          <p:cNvSpPr/>
          <p:nvPr/>
        </p:nvSpPr>
        <p:spPr>
          <a:xfrm>
            <a:off x="1170432" y="3163824"/>
            <a:ext cx="4480560" cy="512064"/>
          </a:xfrm>
          <a:prstGeom prst="rect">
            <a:avLst/>
          </a:prstGeom>
          <a:noFill/>
          <a:ln/>
        </p:spPr>
        <p:txBody>
          <a:bodyPr wrap="square" lIns="0" tIns="0" rIns="0" bIns="0" rtlCol="0" anchor="ctr"/>
          <a:lstStyle/>
          <a:p>
            <a:pPr indent="0" marL="0">
              <a:buNone/>
            </a:pPr>
            <a:r>
              <a:rPr lang="en-US" sz="1200" dirty="0">
                <a:solidFill>
                  <a:srgbClr val="5A6B80"/>
                </a:solidFill>
                <a:latin typeface="Calibri" pitchFamily="34" charset="0"/>
                <a:ea typeface="Calibri" pitchFamily="34" charset="-122"/>
                <a:cs typeface="Calibri" pitchFamily="34" charset="-120"/>
              </a:rPr>
              <a:t>Identify the Data Access Committee (DAC) that governs the dataset and submit a data use application to it.</a:t>
            </a:r>
            <a:endParaRPr lang="en-US" sz="1200" dirty="0"/>
          </a:p>
        </p:txBody>
      </p:sp>
      <p:sp>
        <p:nvSpPr>
          <p:cNvPr id="15" name="Shape 13"/>
          <p:cNvSpPr/>
          <p:nvPr/>
        </p:nvSpPr>
        <p:spPr>
          <a:xfrm>
            <a:off x="457200" y="3803904"/>
            <a:ext cx="5394960" cy="969264"/>
          </a:xfrm>
          <a:prstGeom prst="roundRect">
            <a:avLst>
              <a:gd name="adj" fmla="val 5660"/>
            </a:avLst>
          </a:prstGeom>
          <a:solidFill>
            <a:srgbClr val="FFFFFF"/>
          </a:solidFill>
          <a:ln w="12700">
            <a:solidFill>
              <a:srgbClr val="DCE5EE"/>
            </a:solidFill>
            <a:prstDash val="solid"/>
          </a:ln>
          <a:effectLst>
            <a:outerShdw sx="100000" sy="100000" kx="0" ky="0" algn="bl" rotWithShape="0" blurRad="76200" dist="12700" dir="5400000">
              <a:srgbClr val="9FB3C8">
                <a:alpha val="25000"/>
              </a:srgbClr>
            </a:outerShdw>
          </a:effectLst>
        </p:spPr>
      </p:sp>
      <p:sp>
        <p:nvSpPr>
          <p:cNvPr id="16" name="Shape 14"/>
          <p:cNvSpPr/>
          <p:nvPr/>
        </p:nvSpPr>
        <p:spPr>
          <a:xfrm>
            <a:off x="676656" y="3986784"/>
            <a:ext cx="384048" cy="384048"/>
          </a:xfrm>
          <a:prstGeom prst="ellipse">
            <a:avLst/>
          </a:prstGeom>
          <a:solidFill>
            <a:srgbClr val="0A5A82"/>
          </a:solidFill>
          <a:ln/>
        </p:spPr>
      </p:sp>
      <p:sp>
        <p:nvSpPr>
          <p:cNvPr id="17" name="Text 15"/>
          <p:cNvSpPr/>
          <p:nvPr/>
        </p:nvSpPr>
        <p:spPr>
          <a:xfrm>
            <a:off x="676656" y="39867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170432" y="3968496"/>
            <a:ext cx="4480560" cy="274320"/>
          </a:xfrm>
          <a:prstGeom prst="rect">
            <a:avLst/>
          </a:prstGeom>
          <a:noFill/>
          <a:ln/>
        </p:spPr>
        <p:txBody>
          <a:bodyPr wrap="square" lIns="0" tIns="0" rIns="0" bIns="0" rtlCol="0" anchor="ctr"/>
          <a:lstStyle/>
          <a:p>
            <a:pPr indent="0" marL="0">
              <a:buNone/>
            </a:pPr>
            <a:r>
              <a:rPr lang="en-US" sz="1400" b="1" dirty="0">
                <a:solidFill>
                  <a:srgbClr val="18243D"/>
                </a:solidFill>
                <a:latin typeface="Calibri" pitchFamily="34" charset="0"/>
                <a:ea typeface="Calibri" pitchFamily="34" charset="-122"/>
                <a:cs typeface="Calibri" pitchFamily="34" charset="-120"/>
              </a:rPr>
              <a:t>Access</a:t>
            </a:r>
            <a:endParaRPr lang="en-US" sz="1400" dirty="0"/>
          </a:p>
        </p:txBody>
      </p:sp>
      <p:sp>
        <p:nvSpPr>
          <p:cNvPr id="19" name="Text 17"/>
          <p:cNvSpPr/>
          <p:nvPr/>
        </p:nvSpPr>
        <p:spPr>
          <a:xfrm>
            <a:off x="1170432" y="4242816"/>
            <a:ext cx="4480560" cy="512064"/>
          </a:xfrm>
          <a:prstGeom prst="rect">
            <a:avLst/>
          </a:prstGeom>
          <a:noFill/>
          <a:ln/>
        </p:spPr>
        <p:txBody>
          <a:bodyPr wrap="square" lIns="0" tIns="0" rIns="0" bIns="0" rtlCol="0" anchor="ctr"/>
          <a:lstStyle/>
          <a:p>
            <a:pPr indent="0" marL="0">
              <a:buNone/>
            </a:pPr>
            <a:r>
              <a:rPr lang="en-US" sz="1200" dirty="0">
                <a:solidFill>
                  <a:srgbClr val="5A6B80"/>
                </a:solidFill>
                <a:latin typeface="Calibri" pitchFamily="34" charset="0"/>
                <a:ea typeface="Calibri" pitchFamily="34" charset="-122"/>
                <a:cs typeface="Calibri" pitchFamily="34" charset="-120"/>
              </a:rPr>
              <a:t>Work in whatever environment the provider offers — a trusted research environment (TRE), a secure cloud workspace, or plain download.</a:t>
            </a:r>
            <a:endParaRPr lang="en-US" sz="1200" dirty="0"/>
          </a:p>
        </p:txBody>
      </p:sp>
      <p:sp>
        <p:nvSpPr>
          <p:cNvPr id="20" name="Text 18"/>
          <p:cNvSpPr/>
          <p:nvPr/>
        </p:nvSpPr>
        <p:spPr>
          <a:xfrm>
            <a:off x="6336792" y="1298448"/>
            <a:ext cx="5394960" cy="274320"/>
          </a:xfrm>
          <a:prstGeom prst="rect">
            <a:avLst/>
          </a:prstGeom>
          <a:noFill/>
          <a:ln/>
        </p:spPr>
        <p:txBody>
          <a:bodyPr wrap="square" lIns="0" tIns="0" rIns="0" bIns="0" rtlCol="0" anchor="ctr"/>
          <a:lstStyle/>
          <a:p>
            <a:pPr indent="0" marL="0">
              <a:buNone/>
            </a:pPr>
            <a:r>
              <a:rPr lang="en-US" sz="1400" b="1" dirty="0">
                <a:solidFill>
                  <a:srgbClr val="B5561B"/>
                </a:solidFill>
                <a:latin typeface="Calibri" pitchFamily="34" charset="0"/>
                <a:ea typeface="Calibri" pitchFamily="34" charset="-122"/>
                <a:cs typeface="Calibri" pitchFamily="34" charset="-120"/>
              </a:rPr>
              <a:t>Where it breaks down</a:t>
            </a:r>
            <a:endParaRPr lang="en-US" sz="1400" dirty="0"/>
          </a:p>
        </p:txBody>
      </p:sp>
      <p:sp>
        <p:nvSpPr>
          <p:cNvPr id="21" name="Shape 19"/>
          <p:cNvSpPr/>
          <p:nvPr/>
        </p:nvSpPr>
        <p:spPr>
          <a:xfrm>
            <a:off x="6336792" y="1645920"/>
            <a:ext cx="5394960" cy="1517904"/>
          </a:xfrm>
          <a:prstGeom prst="roundRect">
            <a:avLst>
              <a:gd name="adj" fmla="val 3614"/>
            </a:avLst>
          </a:prstGeom>
          <a:solidFill>
            <a:srgbClr val="FDF1E3"/>
          </a:solidFill>
          <a:ln w="12700">
            <a:solidFill>
              <a:srgbClr val="F0D6B4"/>
            </a:solidFill>
            <a:prstDash val="solid"/>
          </a:ln>
        </p:spPr>
      </p:sp>
      <p:sp>
        <p:nvSpPr>
          <p:cNvPr id="22" name="Text 20"/>
          <p:cNvSpPr/>
          <p:nvPr/>
        </p:nvSpPr>
        <p:spPr>
          <a:xfrm>
            <a:off x="6592824" y="1792224"/>
            <a:ext cx="4937760" cy="274320"/>
          </a:xfrm>
          <a:prstGeom prst="rect">
            <a:avLst/>
          </a:prstGeom>
          <a:noFill/>
          <a:ln/>
        </p:spPr>
        <p:txBody>
          <a:bodyPr wrap="square" lIns="0" tIns="0" rIns="0" bIns="0" rtlCol="0" anchor="ctr"/>
          <a:lstStyle/>
          <a:p>
            <a:pPr indent="0" marL="0">
              <a:buNone/>
            </a:pPr>
            <a:r>
              <a:rPr lang="en-US" sz="1400" b="1" dirty="0">
                <a:solidFill>
                  <a:srgbClr val="8A3E12"/>
                </a:solidFill>
                <a:latin typeface="Calibri" pitchFamily="34" charset="0"/>
                <a:ea typeface="Calibri" pitchFamily="34" charset="-122"/>
                <a:cs typeface="Calibri" pitchFamily="34" charset="-120"/>
              </a:rPr>
              <a:t>Catalogs are not human- or AI-friendly</a:t>
            </a:r>
            <a:endParaRPr lang="en-US" sz="1400" dirty="0"/>
          </a:p>
        </p:txBody>
      </p:sp>
      <p:sp>
        <p:nvSpPr>
          <p:cNvPr id="23" name="Text 21"/>
          <p:cNvSpPr/>
          <p:nvPr/>
        </p:nvSpPr>
        <p:spPr>
          <a:xfrm>
            <a:off x="6592824" y="2103120"/>
            <a:ext cx="4937760" cy="1005840"/>
          </a:xfrm>
          <a:prstGeom prst="rect">
            <a:avLst/>
          </a:prstGeom>
          <a:noFill/>
          <a:ln/>
        </p:spPr>
        <p:txBody>
          <a:bodyPr wrap="square" lIns="0" tIns="0" rIns="0" bIns="0" rtlCol="0" anchor="ctr"/>
          <a:lstStyle/>
          <a:p>
            <a:pPr indent="0" marL="0">
              <a:buNone/>
            </a:pPr>
            <a:r>
              <a:rPr lang="en-US" sz="1150" dirty="0">
                <a:solidFill>
                  <a:srgbClr val="6B4A32"/>
                </a:solidFill>
                <a:latin typeface="Calibri" pitchFamily="34" charset="0"/>
                <a:ea typeface="Calibri" pitchFamily="34" charset="-122"/>
                <a:cs typeface="Calibri" pitchFamily="34" charset="-120"/>
              </a:rPr>
              <a:t>Little support for breakdowns and distributions over large dataset collections, and weak faceted search. Open design question: which metadata must the catalog carry, and which features must the portal expose so that both people and AI agents can query it?</a:t>
            </a:r>
            <a:endParaRPr lang="en-US" sz="1150" dirty="0"/>
          </a:p>
        </p:txBody>
      </p:sp>
      <p:sp>
        <p:nvSpPr>
          <p:cNvPr id="24" name="Shape 22"/>
          <p:cNvSpPr/>
          <p:nvPr/>
        </p:nvSpPr>
        <p:spPr>
          <a:xfrm>
            <a:off x="6336792" y="3273552"/>
            <a:ext cx="5394960" cy="1517904"/>
          </a:xfrm>
          <a:prstGeom prst="roundRect">
            <a:avLst>
              <a:gd name="adj" fmla="val 3614"/>
            </a:avLst>
          </a:prstGeom>
          <a:solidFill>
            <a:srgbClr val="FDF1E3"/>
          </a:solidFill>
          <a:ln w="12700">
            <a:solidFill>
              <a:srgbClr val="F0D6B4"/>
            </a:solidFill>
            <a:prstDash val="solid"/>
          </a:ln>
        </p:spPr>
      </p:sp>
      <p:sp>
        <p:nvSpPr>
          <p:cNvPr id="25" name="Text 23"/>
          <p:cNvSpPr/>
          <p:nvPr/>
        </p:nvSpPr>
        <p:spPr>
          <a:xfrm>
            <a:off x="6592824" y="3419856"/>
            <a:ext cx="4937760" cy="274320"/>
          </a:xfrm>
          <a:prstGeom prst="rect">
            <a:avLst/>
          </a:prstGeom>
          <a:noFill/>
          <a:ln/>
        </p:spPr>
        <p:txBody>
          <a:bodyPr wrap="square" lIns="0" tIns="0" rIns="0" bIns="0" rtlCol="0" anchor="ctr"/>
          <a:lstStyle/>
          <a:p>
            <a:pPr indent="0" marL="0">
              <a:buNone/>
            </a:pPr>
            <a:r>
              <a:rPr lang="en-US" sz="1400" b="1" dirty="0">
                <a:solidFill>
                  <a:srgbClr val="8A3E12"/>
                </a:solidFill>
                <a:latin typeface="Calibri" pitchFamily="34" charset="0"/>
                <a:ea typeface="Calibri" pitchFamily="34" charset="-122"/>
                <a:cs typeface="Calibri" pitchFamily="34" charset="-120"/>
              </a:rPr>
              <a:t>One DAC per dataset does not scale</a:t>
            </a:r>
            <a:endParaRPr lang="en-US" sz="1400" dirty="0"/>
          </a:p>
        </p:txBody>
      </p:sp>
      <p:sp>
        <p:nvSpPr>
          <p:cNvPr id="26" name="Text 24"/>
          <p:cNvSpPr/>
          <p:nvPr/>
        </p:nvSpPr>
        <p:spPr>
          <a:xfrm>
            <a:off x="6592824" y="3730752"/>
            <a:ext cx="4937760" cy="1005840"/>
          </a:xfrm>
          <a:prstGeom prst="rect">
            <a:avLst/>
          </a:prstGeom>
          <a:noFill/>
          <a:ln/>
        </p:spPr>
        <p:txBody>
          <a:bodyPr wrap="square" lIns="0" tIns="0" rIns="0" bIns="0" rtlCol="0" anchor="ctr"/>
          <a:lstStyle/>
          <a:p>
            <a:pPr indent="0" marL="0">
              <a:buNone/>
            </a:pPr>
            <a:r>
              <a:rPr lang="en-US" sz="1150" dirty="0">
                <a:solidFill>
                  <a:srgbClr val="6B4A32"/>
                </a:solidFill>
                <a:latin typeface="Calibri" pitchFamily="34" charset="0"/>
                <a:ea typeface="Calibri" pitchFamily="34" charset="-122"/>
                <a:cs typeface="Calibri" pitchFamily="34" charset="-120"/>
              </a:rPr>
              <a:t>With many DACs, a study spanning several datasets means several parallel applications. Where a PI also acts as the DAC, contact can simply fail — and access that worked once may quietly become unavailable.</a:t>
            </a:r>
            <a:endParaRPr lang="en-US" sz="1150" dirty="0"/>
          </a:p>
        </p:txBody>
      </p:sp>
      <p:sp>
        <p:nvSpPr>
          <p:cNvPr id="27" name="Shape 25"/>
          <p:cNvSpPr/>
          <p:nvPr/>
        </p:nvSpPr>
        <p:spPr>
          <a:xfrm>
            <a:off x="457200" y="5084064"/>
            <a:ext cx="11274552" cy="932688"/>
          </a:xfrm>
          <a:prstGeom prst="roundRect">
            <a:avLst>
              <a:gd name="adj" fmla="val 5882"/>
            </a:avLst>
          </a:prstGeom>
          <a:solidFill>
            <a:srgbClr val="1B2A5E"/>
          </a:solidFill>
          <a:ln w="12700">
            <a:solidFill>
              <a:srgbClr val="1B2A5E"/>
            </a:solidFill>
            <a:prstDash val="solid"/>
          </a:ln>
        </p:spPr>
      </p:sp>
      <p:sp>
        <p:nvSpPr>
          <p:cNvPr id="28" name="Text 26"/>
          <p:cNvSpPr/>
          <p:nvPr/>
        </p:nvSpPr>
        <p:spPr>
          <a:xfrm>
            <a:off x="777240" y="5175504"/>
            <a:ext cx="10698480" cy="749808"/>
          </a:xfrm>
          <a:prstGeom prst="rect">
            <a:avLst/>
          </a:prstGeom>
          <a:noFill/>
          <a:ln/>
        </p:spPr>
        <p:txBody>
          <a:bodyPr wrap="square" lIns="0" tIns="0" rIns="0" bIns="0" rtlCol="0" anchor="ctr"/>
          <a:lstStyle/>
          <a:p>
            <a:pPr indent="0" marL="0">
              <a:buNone/>
            </a:pPr>
            <a:r>
              <a:rPr lang="en-US" sz="1350" b="1" dirty="0">
                <a:solidFill>
                  <a:srgbClr val="E8A33D"/>
                </a:solidFill>
                <a:latin typeface="Calibri" pitchFamily="34" charset="0"/>
                <a:ea typeface="Calibri" pitchFamily="34" charset="-122"/>
                <a:cs typeface="Calibri" pitchFamily="34" charset="-120"/>
              </a:rPr>
              <a:t>The primary function of AGA   </a:t>
            </a:r>
            <a:pPr indent="0" marL="0">
              <a:buNone/>
            </a:pPr>
            <a:r>
              <a:rPr lang="en-US" sz="1350" dirty="0">
                <a:solidFill>
                  <a:srgbClr val="FFFFFF"/>
                </a:solidFill>
                <a:latin typeface="Calibri" pitchFamily="34" charset="0"/>
                <a:ea typeface="Calibri" pitchFamily="34" charset="-122"/>
                <a:cs typeface="Calibri" pitchFamily="34" charset="-120"/>
              </a:rPr>
              <a:t>give an overview of what data exists in each country and in what quantity · let humans and AI find the data they need efficiently · make it unambiguous where to apply for access · keep data accessible over the long term.</a:t>
            </a:r>
            <a:endParaRPr lang="en-US" sz="1350" dirty="0"/>
          </a:p>
        </p:txBody>
      </p:sp>
      <p:sp>
        <p:nvSpPr>
          <p:cNvPr id="29" name="Text 27"/>
          <p:cNvSpPr/>
          <p:nvPr/>
        </p:nvSpPr>
        <p:spPr>
          <a:xfrm>
            <a:off x="457200" y="6144768"/>
            <a:ext cx="11274552" cy="237744"/>
          </a:xfrm>
          <a:prstGeom prst="rect">
            <a:avLst/>
          </a:prstGeom>
          <a:noFill/>
          <a:ln/>
        </p:spPr>
        <p:txBody>
          <a:bodyPr wrap="square" lIns="0" tIns="0" rIns="0" bIns="0" rtlCol="0" anchor="ctr"/>
          <a:lstStyle/>
          <a:p>
            <a:pPr indent="0" marL="0">
              <a:buNone/>
            </a:pPr>
            <a:r>
              <a:rPr lang="en-US" sz="1000" dirty="0">
                <a:solidFill>
                  <a:srgbClr val="5A6B80"/>
                </a:solidFill>
                <a:latin typeface="Calibri" pitchFamily="34" charset="0"/>
                <a:ea typeface="Calibri" pitchFamily="34" charset="-122"/>
                <a:cs typeface="Calibri" pitchFamily="34" charset="-120"/>
              </a:rPr>
              <a:t>Source &amp; working notes: </a:t>
            </a:r>
            <a:pPr indent="0" marL="0">
              <a:buNone/>
            </a:pPr>
            <a:r>
              <a:rPr lang="en-US" sz="1000" b="1" u="sng" dirty="0">
                <a:solidFill>
                  <a:srgbClr val="0A5A82"/>
                </a:solidFill>
                <a:latin typeface="Calibri" pitchFamily="34" charset="0"/>
                <a:ea typeface="Calibri" pitchFamily="34" charset="-122"/>
                <a:cs typeface="Calibri" pitchFamily="34" charset="-120"/>
                <a:hlinkClick r:id="rId2" invalidUrl="" action="" tgtFrame="" tooltip="Federated AGA repository" history="1" highlightClick="0" endSnd="0">
                  <a:extLst>
                    <a:ext uri="{A12FA001-AC4F-418D-AE19-62706E023703}">
                      <ahyp:hlinkClr xmlns:ahyp="http://schemas.microsoft.com/office/drawing/2018/hyperlinkcolor" val="tx"/>
                    </a:ext>
                  </a:extLst>
                </a:hlinkClick>
              </a:rPr>
              <a:t>github.com/ktym/federated-aga</a:t>
            </a:r>
            <a:pPr indent="0" marL="0">
              <a:buNone/>
            </a:pPr>
            <a:r>
              <a:rPr lang="en-US" sz="1000" dirty="0">
                <a:solidFill>
                  <a:srgbClr val="5A6B80"/>
                </a:solidFill>
                <a:latin typeface="Calibri" pitchFamily="34" charset="0"/>
                <a:ea typeface="Calibri" pitchFamily="34" charset="-122"/>
                <a:cs typeface="Calibri" pitchFamily="34" charset="-120"/>
              </a:rPr>
              <a:t>   |   Federated AGA — MedHackathon Asia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457200" y="292608"/>
            <a:ext cx="7863840" cy="530352"/>
          </a:xfrm>
          <a:prstGeom prst="rect">
            <a:avLst/>
          </a:prstGeom>
          <a:noFill/>
          <a:ln/>
        </p:spPr>
        <p:txBody>
          <a:bodyPr wrap="square" lIns="0" tIns="0" rIns="0" bIns="0" rtlCol="0" anchor="ctr"/>
          <a:lstStyle/>
          <a:p>
            <a:pPr indent="0" marL="0">
              <a:buNone/>
            </a:pPr>
            <a:r>
              <a:rPr lang="en-US" sz="3600" b="1" dirty="0">
                <a:solidFill>
                  <a:srgbClr val="1B2A5E"/>
                </a:solidFill>
                <a:latin typeface="Cambria" pitchFamily="34" charset="0"/>
                <a:ea typeface="Cambria" pitchFamily="34" charset="-122"/>
                <a:cs typeface="Cambria" pitchFamily="34" charset="-120"/>
              </a:rPr>
              <a:t>Next steps</a:t>
            </a:r>
            <a:endParaRPr lang="en-US" sz="3600" dirty="0"/>
          </a:p>
        </p:txBody>
      </p:sp>
      <p:sp>
        <p:nvSpPr>
          <p:cNvPr id="3" name="Text 1"/>
          <p:cNvSpPr/>
          <p:nvPr/>
        </p:nvSpPr>
        <p:spPr>
          <a:xfrm>
            <a:off x="457200" y="859536"/>
            <a:ext cx="10972800" cy="274320"/>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A federated index first, then the national cohorts</a:t>
            </a:r>
            <a:endParaRPr lang="en-US" sz="1400" dirty="0"/>
          </a:p>
        </p:txBody>
      </p:sp>
      <p:sp>
        <p:nvSpPr>
          <p:cNvPr id="4" name="Shape 2"/>
          <p:cNvSpPr/>
          <p:nvPr/>
        </p:nvSpPr>
        <p:spPr>
          <a:xfrm>
            <a:off x="457200" y="1280160"/>
            <a:ext cx="11274552" cy="2487168"/>
          </a:xfrm>
          <a:prstGeom prst="roundRect">
            <a:avLst>
              <a:gd name="adj" fmla="val 2941"/>
            </a:avLst>
          </a:prstGeom>
          <a:solidFill>
            <a:srgbClr val="FFFFFF"/>
          </a:solidFill>
          <a:ln w="12700">
            <a:solidFill>
              <a:srgbClr val="DCE5EE"/>
            </a:solidFill>
            <a:prstDash val="solid"/>
          </a:ln>
          <a:effectLst>
            <a:outerShdw sx="100000" sy="100000" kx="0" ky="0" algn="bl" rotWithShape="0" blurRad="76200" dist="12700" dir="5400000">
              <a:srgbClr val="9FB3C8">
                <a:alpha val="25000"/>
              </a:srgbClr>
            </a:outerShdw>
          </a:effectLst>
        </p:spPr>
      </p:sp>
      <p:sp>
        <p:nvSpPr>
          <p:cNvPr id="5" name="Shape 3"/>
          <p:cNvSpPr/>
          <p:nvPr/>
        </p:nvSpPr>
        <p:spPr>
          <a:xfrm>
            <a:off x="713232" y="1463040"/>
            <a:ext cx="384048" cy="384048"/>
          </a:xfrm>
          <a:prstGeom prst="ellipse">
            <a:avLst/>
          </a:prstGeom>
          <a:solidFill>
            <a:srgbClr val="0A5A82"/>
          </a:solidFill>
          <a:ln/>
        </p:spPr>
      </p:sp>
      <p:sp>
        <p:nvSpPr>
          <p:cNvPr id="6" name="Text 4"/>
          <p:cNvSpPr/>
          <p:nvPr/>
        </p:nvSpPr>
        <p:spPr>
          <a:xfrm>
            <a:off x="713232" y="1463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07008" y="1463040"/>
            <a:ext cx="10241280" cy="384048"/>
          </a:xfrm>
          <a:prstGeom prst="rect">
            <a:avLst/>
          </a:prstGeom>
          <a:noFill/>
          <a:ln/>
        </p:spPr>
        <p:txBody>
          <a:bodyPr wrap="square" lIns="0" tIns="0" rIns="0" bIns="0" rtlCol="0" anchor="ctr"/>
          <a:lstStyle/>
          <a:p>
            <a:pPr indent="0" marL="0">
              <a:buNone/>
            </a:pPr>
            <a:r>
              <a:rPr lang="en-US" sz="1900" b="1" dirty="0">
                <a:solidFill>
                  <a:srgbClr val="18243D"/>
                </a:solidFill>
                <a:latin typeface="Cambria" pitchFamily="34" charset="0"/>
                <a:ea typeface="Cambria" pitchFamily="34" charset="-122"/>
                <a:cs typeface="Cambria" pitchFamily="34" charset="-120"/>
              </a:rPr>
              <a:t>Step 1 — federate the controlled-access archives</a:t>
            </a:r>
            <a:endParaRPr lang="en-US" sz="1900" dirty="0"/>
          </a:p>
        </p:txBody>
      </p:sp>
      <p:sp>
        <p:nvSpPr>
          <p:cNvPr id="8" name="Text 6"/>
          <p:cNvSpPr/>
          <p:nvPr/>
        </p:nvSpPr>
        <p:spPr>
          <a:xfrm>
            <a:off x="822960" y="1975104"/>
            <a:ext cx="3401568" cy="256032"/>
          </a:xfrm>
          <a:prstGeom prst="rect">
            <a:avLst/>
          </a:prstGeom>
          <a:noFill/>
          <a:ln/>
        </p:spPr>
        <p:txBody>
          <a:bodyPr wrap="square" lIns="0" tIns="0" rIns="0" bIns="0" rtlCol="0" anchor="ctr"/>
          <a:lstStyle/>
          <a:p>
            <a:pPr indent="0" marL="0">
              <a:buNone/>
            </a:pPr>
            <a:r>
              <a:rPr lang="en-US" sz="1350" b="1" dirty="0">
                <a:solidFill>
                  <a:srgbClr val="0A5A82"/>
                </a:solidFill>
                <a:latin typeface="Calibri" pitchFamily="34" charset="0"/>
                <a:ea typeface="Calibri" pitchFamily="34" charset="-122"/>
                <a:cs typeface="Calibri" pitchFamily="34" charset="-120"/>
              </a:rPr>
              <a:t>Survey the landscape</a:t>
            </a:r>
            <a:endParaRPr lang="en-US" sz="1350" dirty="0"/>
          </a:p>
        </p:txBody>
      </p:sp>
      <p:sp>
        <p:nvSpPr>
          <p:cNvPr id="9" name="Text 7"/>
          <p:cNvSpPr/>
          <p:nvPr/>
        </p:nvSpPr>
        <p:spPr>
          <a:xfrm>
            <a:off x="822960" y="2267712"/>
            <a:ext cx="3401568" cy="1371600"/>
          </a:xfrm>
          <a:prstGeom prst="rect">
            <a:avLst/>
          </a:prstGeom>
          <a:noFill/>
          <a:ln/>
        </p:spPr>
        <p:txBody>
          <a:bodyPr wrap="square" lIns="0" tIns="0" rIns="0" bIns="0" rtlCol="0" anchor="ctr"/>
          <a:lstStyle/>
          <a:p>
            <a:pPr indent="0" marL="0">
              <a:buNone/>
            </a:pPr>
            <a:r>
              <a:rPr lang="en-US" sz="1150" dirty="0">
                <a:solidFill>
                  <a:srgbClr val="5A6B80"/>
                </a:solidFill>
                <a:latin typeface="Calibri" pitchFamily="34" charset="0"/>
                <a:ea typeface="Calibri" pitchFamily="34" charset="-122"/>
                <a:cs typeface="Calibri" pitchFamily="34" charset="-120"/>
              </a:rPr>
              <a:t>Find out how many institutions across Asian countries, besides JGA, accept deposits of controlled-access human research data. India is a concrete model: IBDC operates INDA (SRA-equivalent) and INDA-CA (dbGaP-equivalent), and runs the DAC for the latter itself.</a:t>
            </a:r>
            <a:endParaRPr lang="en-US" sz="1150" dirty="0"/>
          </a:p>
        </p:txBody>
      </p:sp>
      <p:sp>
        <p:nvSpPr>
          <p:cNvPr id="10" name="Text 8"/>
          <p:cNvSpPr/>
          <p:nvPr/>
        </p:nvSpPr>
        <p:spPr>
          <a:xfrm>
            <a:off x="4498848" y="1975104"/>
            <a:ext cx="3401568" cy="256032"/>
          </a:xfrm>
          <a:prstGeom prst="rect">
            <a:avLst/>
          </a:prstGeom>
          <a:noFill/>
          <a:ln/>
        </p:spPr>
        <p:txBody>
          <a:bodyPr wrap="square" lIns="0" tIns="0" rIns="0" bIns="0" rtlCol="0" anchor="ctr"/>
          <a:lstStyle/>
          <a:p>
            <a:pPr indent="0" marL="0">
              <a:buNone/>
            </a:pPr>
            <a:r>
              <a:rPr lang="en-US" sz="1350" b="1" dirty="0">
                <a:solidFill>
                  <a:srgbClr val="0A5A82"/>
                </a:solidFill>
                <a:latin typeface="Calibri" pitchFamily="34" charset="0"/>
                <a:ea typeface="Calibri" pitchFamily="34" charset="-122"/>
                <a:cs typeface="Calibri" pitchFamily="34" charset="-120"/>
              </a:rPr>
              <a:t>Define the index specification</a:t>
            </a:r>
            <a:endParaRPr lang="en-US" sz="1350" dirty="0"/>
          </a:p>
        </p:txBody>
      </p:sp>
      <p:sp>
        <p:nvSpPr>
          <p:cNvPr id="11" name="Text 9"/>
          <p:cNvSpPr/>
          <p:nvPr/>
        </p:nvSpPr>
        <p:spPr>
          <a:xfrm>
            <a:off x="4498848" y="2267712"/>
            <a:ext cx="3401568" cy="1371600"/>
          </a:xfrm>
          <a:prstGeom prst="rect">
            <a:avLst/>
          </a:prstGeom>
          <a:noFill/>
          <a:ln/>
        </p:spPr>
        <p:txBody>
          <a:bodyPr wrap="square" lIns="0" tIns="0" rIns="0" bIns="0" rtlCol="0" anchor="ctr"/>
          <a:lstStyle/>
          <a:p>
            <a:pPr indent="0" marL="0">
              <a:buNone/>
            </a:pPr>
            <a:r>
              <a:rPr lang="en-US" sz="1150" dirty="0">
                <a:solidFill>
                  <a:srgbClr val="5A6B80"/>
                </a:solidFill>
                <a:latin typeface="Calibri" pitchFamily="34" charset="0"/>
                <a:ea typeface="Calibri" pitchFamily="34" charset="-122"/>
                <a:cs typeface="Calibri" pitchFamily="34" charset="-120"/>
              </a:rPr>
              <a:t>Agree how JGA and those organizations expose their research-dataset indexes to the AGA portal: an API that returns the current dataset list, plus a JSON structure carrying necessary-and-sufficient metadata.</a:t>
            </a:r>
            <a:endParaRPr lang="en-US" sz="1150" dirty="0"/>
          </a:p>
        </p:txBody>
      </p:sp>
      <p:sp>
        <p:nvSpPr>
          <p:cNvPr id="12" name="Text 10"/>
          <p:cNvSpPr/>
          <p:nvPr/>
        </p:nvSpPr>
        <p:spPr>
          <a:xfrm>
            <a:off x="8174736" y="1975104"/>
            <a:ext cx="3401568" cy="256032"/>
          </a:xfrm>
          <a:prstGeom prst="rect">
            <a:avLst/>
          </a:prstGeom>
          <a:noFill/>
          <a:ln/>
        </p:spPr>
        <p:txBody>
          <a:bodyPr wrap="square" lIns="0" tIns="0" rIns="0" bIns="0" rtlCol="0" anchor="ctr"/>
          <a:lstStyle/>
          <a:p>
            <a:pPr indent="0" marL="0">
              <a:buNone/>
            </a:pPr>
            <a:r>
              <a:rPr lang="en-US" sz="1350" b="1" dirty="0">
                <a:solidFill>
                  <a:srgbClr val="0A5A82"/>
                </a:solidFill>
                <a:latin typeface="Calibri" pitchFamily="34" charset="0"/>
                <a:ea typeface="Calibri" pitchFamily="34" charset="-122"/>
                <a:cs typeface="Calibri" pitchFamily="34" charset="-120"/>
              </a:rPr>
              <a:t>Prototype the portal</a:t>
            </a:r>
            <a:endParaRPr lang="en-US" sz="1350" dirty="0"/>
          </a:p>
        </p:txBody>
      </p:sp>
      <p:sp>
        <p:nvSpPr>
          <p:cNvPr id="13" name="Text 11"/>
          <p:cNvSpPr/>
          <p:nvPr/>
        </p:nvSpPr>
        <p:spPr>
          <a:xfrm>
            <a:off x="8174736" y="2267712"/>
            <a:ext cx="3401568" cy="1371600"/>
          </a:xfrm>
          <a:prstGeom prst="rect">
            <a:avLst/>
          </a:prstGeom>
          <a:noFill/>
          <a:ln/>
        </p:spPr>
        <p:txBody>
          <a:bodyPr wrap="square" lIns="0" tIns="0" rIns="0" bIns="0" rtlCol="0" anchor="ctr"/>
          <a:lstStyle/>
          <a:p>
            <a:pPr indent="0" marL="0">
              <a:buNone/>
            </a:pPr>
            <a:r>
              <a:rPr lang="en-US" sz="1150" dirty="0">
                <a:solidFill>
                  <a:srgbClr val="5A6B80"/>
                </a:solidFill>
                <a:latin typeface="Calibri" pitchFamily="34" charset="0"/>
                <a:ea typeface="Calibri" pitchFamily="34" charset="-122"/>
                <a:cs typeface="Calibri" pitchFamily="34" charset="-120"/>
              </a:rPr>
              <a:t>Stand up an AGA portal site, aggregate each country's datasets through that API, and make them searchable and browsable through tables, facets and visualizations.</a:t>
            </a:r>
            <a:endParaRPr lang="en-US" sz="1150" dirty="0"/>
          </a:p>
        </p:txBody>
      </p:sp>
      <p:sp>
        <p:nvSpPr>
          <p:cNvPr id="14" name="Shape 12"/>
          <p:cNvSpPr/>
          <p:nvPr/>
        </p:nvSpPr>
        <p:spPr>
          <a:xfrm>
            <a:off x="457200" y="3895344"/>
            <a:ext cx="11274552" cy="1298448"/>
          </a:xfrm>
          <a:prstGeom prst="roundRect">
            <a:avLst>
              <a:gd name="adj" fmla="val 5634"/>
            </a:avLst>
          </a:prstGeom>
          <a:solidFill>
            <a:srgbClr val="E4EEF4"/>
          </a:solidFill>
          <a:ln w="12700">
            <a:solidFill>
              <a:srgbClr val="C7DCE8"/>
            </a:solidFill>
            <a:prstDash val="solid"/>
          </a:ln>
        </p:spPr>
      </p:sp>
      <p:sp>
        <p:nvSpPr>
          <p:cNvPr id="15" name="Shape 13"/>
          <p:cNvSpPr/>
          <p:nvPr/>
        </p:nvSpPr>
        <p:spPr>
          <a:xfrm>
            <a:off x="713232" y="4059936"/>
            <a:ext cx="384048" cy="384048"/>
          </a:xfrm>
          <a:prstGeom prst="ellipse">
            <a:avLst/>
          </a:prstGeom>
          <a:solidFill>
            <a:srgbClr val="1C7293"/>
          </a:solidFill>
          <a:ln/>
        </p:spPr>
      </p:sp>
      <p:sp>
        <p:nvSpPr>
          <p:cNvPr id="16" name="Text 14"/>
          <p:cNvSpPr/>
          <p:nvPr/>
        </p:nvSpPr>
        <p:spPr>
          <a:xfrm>
            <a:off x="713232" y="40599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1207008" y="4059936"/>
            <a:ext cx="10241280" cy="310896"/>
          </a:xfrm>
          <a:prstGeom prst="rect">
            <a:avLst/>
          </a:prstGeom>
          <a:noFill/>
          <a:ln/>
        </p:spPr>
        <p:txBody>
          <a:bodyPr wrap="square" lIns="0" tIns="0" rIns="0" bIns="0" rtlCol="0" anchor="ctr"/>
          <a:lstStyle/>
          <a:p>
            <a:pPr indent="0" marL="0">
              <a:buNone/>
            </a:pPr>
            <a:r>
              <a:rPr lang="en-US" sz="1800" b="1" dirty="0">
                <a:solidFill>
                  <a:srgbClr val="18243D"/>
                </a:solidFill>
                <a:latin typeface="Cambria" pitchFamily="34" charset="0"/>
                <a:ea typeface="Cambria" pitchFamily="34" charset="-122"/>
                <a:cs typeface="Cambria" pitchFamily="34" charset="-120"/>
              </a:rPr>
              <a:t>Step 2 — bring in national genome projects and biobanks</a:t>
            </a:r>
            <a:endParaRPr lang="en-US" sz="1800" dirty="0"/>
          </a:p>
        </p:txBody>
      </p:sp>
      <p:sp>
        <p:nvSpPr>
          <p:cNvPr id="18" name="Text 16"/>
          <p:cNvSpPr/>
          <p:nvPr/>
        </p:nvSpPr>
        <p:spPr>
          <a:xfrm>
            <a:off x="1207008" y="4407408"/>
            <a:ext cx="10241280" cy="694944"/>
          </a:xfrm>
          <a:prstGeom prst="rect">
            <a:avLst/>
          </a:prstGeom>
          <a:noFill/>
          <a:ln/>
        </p:spPr>
        <p:txBody>
          <a:bodyPr wrap="square" lIns="0" tIns="0" rIns="0" bIns="0" rtlCol="0" anchor="ctr"/>
          <a:lstStyle/>
          <a:p>
            <a:pPr indent="0" marL="0">
              <a:buNone/>
            </a:pPr>
            <a:r>
              <a:rPr lang="en-US" sz="1200" dirty="0">
                <a:solidFill>
                  <a:srgbClr val="3E5468"/>
                </a:solidFill>
                <a:latin typeface="Calibri" pitchFamily="34" charset="0"/>
                <a:ea typeface="Calibri" pitchFamily="34" charset="-122"/>
                <a:cs typeface="Calibri" pitchFamily="34" charset="-120"/>
              </a:rPr>
              <a:t>Reconsider how their datasets should be indexed in AGA and what metadata that needs. For ToMMo in Japan, for instance, several routes are possible: ToMMo joins AGA as a member archive, or ToMMo datasets are registered in JGA and surfaced through the catalog from there.</a:t>
            </a:r>
            <a:endParaRPr lang="en-US" sz="1200" dirty="0"/>
          </a:p>
        </p:txBody>
      </p:sp>
      <p:sp>
        <p:nvSpPr>
          <p:cNvPr id="19" name="Shape 17"/>
          <p:cNvSpPr/>
          <p:nvPr/>
        </p:nvSpPr>
        <p:spPr>
          <a:xfrm>
            <a:off x="457200" y="5321808"/>
            <a:ext cx="11274552" cy="713232"/>
          </a:xfrm>
          <a:prstGeom prst="roundRect">
            <a:avLst>
              <a:gd name="adj" fmla="val 7692"/>
            </a:avLst>
          </a:prstGeom>
          <a:solidFill>
            <a:srgbClr val="1B2A5E"/>
          </a:solidFill>
          <a:ln w="12700">
            <a:solidFill>
              <a:srgbClr val="1B2A5E"/>
            </a:solidFill>
            <a:prstDash val="solid"/>
          </a:ln>
        </p:spPr>
      </p:sp>
      <p:sp>
        <p:nvSpPr>
          <p:cNvPr id="20" name="Text 18"/>
          <p:cNvSpPr/>
          <p:nvPr/>
        </p:nvSpPr>
        <p:spPr>
          <a:xfrm>
            <a:off x="777240" y="5394960"/>
            <a:ext cx="10698480" cy="566928"/>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Let's build this together:   </a:t>
            </a:r>
            <a:pPr indent="0" marL="0">
              <a:buNone/>
            </a:pPr>
            <a:r>
              <a:rPr lang="en-US" sz="1400" dirty="0">
                <a:solidFill>
                  <a:srgbClr val="FFFFFF"/>
                </a:solidFill>
                <a:latin typeface="Calibri" pitchFamily="34" charset="0"/>
                <a:ea typeface="Calibri" pitchFamily="34" charset="-122"/>
                <a:cs typeface="Calibri" pitchFamily="34" charset="-120"/>
              </a:rPr>
              <a:t>the September </a:t>
            </a:r>
            <a:pPr indent="0" marL="0">
              <a:buNone/>
            </a:pPr>
            <a:r>
              <a:rPr lang="en-US" sz="1400" b="1" u="sng" dirty="0">
                <a:solidFill>
                  <a:srgbClr val="E8A33D"/>
                </a:solidFill>
                <a:latin typeface="Calibri" pitchFamily="34" charset="0"/>
                <a:ea typeface="Calibri" pitchFamily="34" charset="-122"/>
                <a:cs typeface="Calibri" pitchFamily="34" charset="-120"/>
                <a:hlinkClick r:id="rId1" invalidUrl="" action="" tgtFrame="" tooltip="BioHackathon 2026" history="1" highlightClick="0" endSnd="0">
                  <a:extLst>
                    <a:ext uri="{A12FA001-AC4F-418D-AE19-62706E023703}">
                      <ahyp:hlinkClr xmlns:ahyp="http://schemas.microsoft.com/office/drawing/2018/hyperlinkcolor" val="tx"/>
                    </a:ext>
                  </a:extLst>
                </a:hlinkClick>
              </a:rPr>
              <a:t>BioHackathon 2026</a:t>
            </a:r>
            <a:pPr indent="0" marL="0">
              <a:buNone/>
            </a:pPr>
            <a:r>
              <a:rPr lang="en-US" sz="1400" dirty="0">
                <a:solidFill>
                  <a:srgbClr val="FFFFFF"/>
                </a:solidFill>
                <a:latin typeface="Calibri" pitchFamily="34" charset="0"/>
                <a:ea typeface="Calibri" pitchFamily="34" charset="-122"/>
                <a:cs typeface="Calibri" pitchFamily="34" charset="-120"/>
              </a:rPr>
              <a:t>, interim Zoom meetings, and MedHackathon Asia next year.</a:t>
            </a:r>
            <a:endParaRPr lang="en-US" sz="1400" dirty="0"/>
          </a:p>
        </p:txBody>
      </p:sp>
      <p:sp>
        <p:nvSpPr>
          <p:cNvPr id="21" name="Text 19"/>
          <p:cNvSpPr/>
          <p:nvPr/>
        </p:nvSpPr>
        <p:spPr>
          <a:xfrm>
            <a:off x="457200" y="6144768"/>
            <a:ext cx="11274552" cy="237744"/>
          </a:xfrm>
          <a:prstGeom prst="rect">
            <a:avLst/>
          </a:prstGeom>
          <a:noFill/>
          <a:ln/>
        </p:spPr>
        <p:txBody>
          <a:bodyPr wrap="square" lIns="0" tIns="0" rIns="0" bIns="0" rtlCol="0" anchor="ctr"/>
          <a:lstStyle/>
          <a:p>
            <a:pPr indent="0" marL="0">
              <a:buNone/>
            </a:pPr>
            <a:r>
              <a:rPr lang="en-US" sz="1000" dirty="0">
                <a:solidFill>
                  <a:srgbClr val="5A6B80"/>
                </a:solidFill>
                <a:latin typeface="Calibri" pitchFamily="34" charset="0"/>
                <a:ea typeface="Calibri" pitchFamily="34" charset="-122"/>
                <a:cs typeface="Calibri" pitchFamily="34" charset="-120"/>
              </a:rPr>
              <a:t>Source &amp; working notes: </a:t>
            </a:r>
            <a:pPr indent="0" marL="0">
              <a:buNone/>
            </a:pPr>
            <a:r>
              <a:rPr lang="en-US" sz="1000" b="1" u="sng" dirty="0">
                <a:solidFill>
                  <a:srgbClr val="0A5A82"/>
                </a:solidFill>
                <a:latin typeface="Calibri" pitchFamily="34" charset="0"/>
                <a:ea typeface="Calibri" pitchFamily="34" charset="-122"/>
                <a:cs typeface="Calibri" pitchFamily="34" charset="-120"/>
                <a:hlinkClick r:id="rId2" invalidUrl="" action="" tgtFrame="" tooltip="Federated AGA repository" history="1" highlightClick="0" endSnd="0">
                  <a:extLst>
                    <a:ext uri="{A12FA001-AC4F-418D-AE19-62706E023703}">
                      <ahyp:hlinkClr xmlns:ahyp="http://schemas.microsoft.com/office/drawing/2018/hyperlinkcolor" val="tx"/>
                    </a:ext>
                  </a:extLst>
                </a:hlinkClick>
              </a:rPr>
              <a:t>github.com/ktym/federated-aga</a:t>
            </a:r>
            <a:pPr indent="0" marL="0">
              <a:buNone/>
            </a:pPr>
            <a:r>
              <a:rPr lang="en-US" sz="1000" dirty="0">
                <a:solidFill>
                  <a:srgbClr val="5A6B80"/>
                </a:solidFill>
                <a:latin typeface="Calibri" pitchFamily="34" charset="0"/>
                <a:ea typeface="Calibri" pitchFamily="34" charset="-122"/>
                <a:cs typeface="Calibri" pitchFamily="34" charset="-120"/>
              </a:rPr>
              <a:t>   |   Federated AGA — MedHackathon Asia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Federated AGA</dc:title>
  <dc:subject>PptxGenJS Presentation</dc:subject>
  <dc:creator>DBCLS</dc:creator>
  <cp:lastModifiedBy>DBCLS</cp:lastModifiedBy>
  <cp:revision>1</cp:revision>
  <dcterms:created xsi:type="dcterms:W3CDTF">2026-07-30T10:51:57Z</dcterms:created>
  <dcterms:modified xsi:type="dcterms:W3CDTF">2026-07-30T10:51:57Z</dcterms:modified>
</cp:coreProperties>
</file>